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ACCELERATOR  ·  TECHNICAL ASSESSMENT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Trend Forecasting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of the Global Weather Repository — cleaning, EDA, multi-model forecasting, and advanced climate, air-quality &amp; spatial intelligence.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27306B"/>
          </a:solidFill>
          <a:ln w="12700">
            <a:solidFill>
              <a:srgbClr val="3A4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76732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Accelerator Mission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product managers through every career stage — from entry-level to leadership — via certified training, hands-on projects and career services, while fostering a diverse tech industry. Through PMA Kids it offers free PM education to underserved teens.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149,879 records   ·   211 countries   ·   268 cities   ·   May 2024 – Jun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four-stage analytics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453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149,879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93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5453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2093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5453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093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TRACKED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54533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yrs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06840" y="20939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HISTORY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9900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Clean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17520" y="299008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last_updated, de-duplicate, impute, winsorize outliers, normalize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3133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94106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Explore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017520" y="3941064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correlations, seasonality; temperature &amp; precipitation visuals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78231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8920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Forecast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17520" y="489204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+ ensemble on the daily global-mean series; MAE/RMSE/MAPE/R²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73328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84301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Advanced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017520" y="5843016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Anomalies, climate, air quality, feature importance, spatial patterns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81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last_updated parsed to datetime for time-series indexing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53912" y="1463040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82512" y="1581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82512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and (location, time) duplicates removed — kept latest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7523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090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impute (numeric), mode impute (categorical)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53912" y="2633472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27523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2512" y="3090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Winsorized to the Tukey IQR fence — keeps every record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9227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2611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standardized copies added for modelling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53912" y="3803904"/>
            <a:ext cx="548640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82512" y="39227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82512" y="42611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dayofyear, season derived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149,880 → 149,879 clean rows   ·   0 missing   ·   0 duplicates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Temperature &amp; Precipitation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temperatur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648451"/>
            <a:ext cx="5376672" cy="17439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601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&amp; spread by season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53912" y="14173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8" name="Image 1" descr="outputs/figures/precipitation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644289"/>
            <a:ext cx="5376672" cy="17523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53912" y="56601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distribution (log) &amp; monthly mean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Correlations &amp; Global Trend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367" y="1472184"/>
            <a:ext cx="4379185" cy="3913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77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of weather variables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52160" y="1417320"/>
            <a:ext cx="578815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8" name="Image 1" descr="outputs/figures/global_temp_precip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1861564"/>
            <a:ext cx="5678424" cy="18547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2160" y="4197096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global-mean temperature &amp; precipitation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852160" y="4526280"/>
            <a:ext cx="5788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 with temperature: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feels-like +0.98 · UV +0.49 · pressure −0.44 · humidity −0.35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+ ADVANCED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— Models &amp;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12648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forecas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415378"/>
            <a:ext cx="6016752" cy="22101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1441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vs. actuals on the held-out test window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5800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+ ensemble · 1-step-ahead walk-forward (fair comparison)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65960"/>
          <a:ext cx="48006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731520"/>
                <a:gridCol w="777240"/>
                <a:gridCol w="713232"/>
                <a:gridCol w="70408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(lag-1)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858000" y="5029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smooth planetary-mean series the naive baseline is strong; SARIMAX &amp; the ensemble track within ~0.02 RMSE.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— Errors &amp; 30-Day Outlook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model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95807"/>
            <a:ext cx="5376672" cy="25920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1572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 by model (lower is better)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53912" y="14630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8" name="Image 1" descr="outputs/figures/future_forec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307965"/>
            <a:ext cx="5376672" cy="19677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53912" y="51572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30-day-ahead global mean temperature forecast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 0.242 °C   ·   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 averages ≈ 23.8 °C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ANOMALY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&amp; Anomaly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680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anomaly_de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02992"/>
            <a:ext cx="7571232" cy="3326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058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anomalies in temperature–humidity space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03920" y="1783080"/>
            <a:ext cx="3136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95360" y="1911096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2,998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595360" y="2459736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(2.0%)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03920" y="3017520"/>
            <a:ext cx="3136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(multivariate) cross-checked with Z-score (&gt;3σ) and the IQR rule. Agreement across methods raises confidence in each flag.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UNIQUE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2296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climat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221606"/>
            <a:ext cx="8119872" cy="27805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97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climatology &amp; seasonality by latitude band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006840" y="192024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zones stay warm year-round; temperate &amp; polar zones swing strongly with the seasons — and the two hemispheres move in opposite phase.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ENVIRONMENTAL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vs. Weather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680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air_quality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810405"/>
            <a:ext cx="7571232" cy="36029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972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 vs. weather parameters (correlation)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03920" y="1828800"/>
            <a:ext cx="31363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shapes air quality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links: humidity ↔ ozone −0.40 and UV ↔ ozone +0.35 — photochemical ozone forms in dry, sunny conditions. Humidity also anti-correlates with the EPA/DEFRA indices.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FEATURE IMPORTANCE + SPATIAL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Temperature &amp; Where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75104"/>
            <a:ext cx="5376672" cy="2907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31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for temperature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53912" y="1463040"/>
            <a:ext cx="54864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8" name="Image 1" descr="outputs/figures/spatial_temperature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002575"/>
            <a:ext cx="5376672" cy="2852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53912" y="5431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temperature — latest reading per city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(0.83) dominates, then UV (0.29), day-of-year (0.26) &amp; pressure (0.19)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GEOGRAPHICAL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Weather Differs Across Countries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5" name="Image 0" descr="outputs/figures/country_temperature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418274"/>
            <a:ext cx="5376672" cy="22043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14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 &amp; coolest countries by mean temperature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53912" y="146304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5000"/>
              </a:srgbClr>
            </a:outerShdw>
          </a:effectLst>
        </p:spPr>
      </p:sp>
      <p:pic>
        <p:nvPicPr>
          <p:cNvPr id="8" name="Image 1" descr="outputs/figures/geographical_patter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492502"/>
            <a:ext cx="5376672" cy="2055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53912" y="5614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spread &amp; precipitation by country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dominates the global daily-mean series — lag-1 R² ≈ 0.77; SARIMAX/ensemble track closely.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the master variable — latitude alone is the top temperature driver (0.83).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shapes air quality — humidity is the strongest pollutant correlate (ozone −0.40).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already complete (0 missing) — cleaning centres on de-duplication, IQR capping &amp; features.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isolates 2.0% of records for data-quality / extreme-event review.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0" y="1280160"/>
            <a:ext cx="3017520" cy="3566160"/>
          </a:xfrm>
          <a:prstGeom prst="roundRect">
            <a:avLst>
              <a:gd name="adj" fmla="val 2424"/>
            </a:avLst>
          </a:prstGeom>
          <a:solidFill>
            <a:srgbClr val="27306B"/>
          </a:solidFill>
          <a:ln w="12700">
            <a:solidFill>
              <a:srgbClr val="3A4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4108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41080" y="187452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Cleaning · outliers · normalize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EDA + temp/precip visuals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Forecast + metrics (last_updated)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Anomaly detection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Multiple models + ensemble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Climate analysis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Air-quality impact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 importance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Spatial + geographical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report/REPORT.md   ·   Interactive dashboard: streamlit run dashboard.py   ·   pmaccelerator.io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Trend Forecasting</dc:title>
  <dc:subject>PptxGenJS Presentation</dc:subject>
  <dc:creator>PM Accelerator Assessment</dc:creator>
  <cp:lastModifiedBy>PM Accelerator Assessment</cp:lastModifiedBy>
  <cp:revision>1</cp:revision>
  <dcterms:created xsi:type="dcterms:W3CDTF">2026-06-30T11:14:47Z</dcterms:created>
  <dcterms:modified xsi:type="dcterms:W3CDTF">2026-06-30T11:14:47Z</dcterms:modified>
</cp:coreProperties>
</file>